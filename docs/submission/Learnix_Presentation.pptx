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317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 b="1" i="0">
                <a:solidFill>
                  <a:srgbClr val="FFFFFF"/>
                </a:solidFill>
                <a:latin typeface="Arial"/>
              </a:rPr>
              <a:t>LEARNIX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E8B9BE"/>
                </a:solidFill>
                <a:latin typeface="Arial"/>
              </a:rPr>
              <a:t>AN EXPLAINABLE, STEERABLE COURSE RECOMMENDER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3977639"/>
            <a:ext cx="1828800" cy="27432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25196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Arial"/>
              </a:rPr>
              <a:t>B.Tech.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1206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Aditya Pradhan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5321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C9C9C9"/>
                </a:solidFill>
                <a:latin typeface="Arial"/>
              </a:rPr>
              <a:t>Roll No: 23108A0010   |   Branch: EXCS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7A1F2B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1A"/>
                </a:solidFill>
                <a:latin typeface="Arial"/>
              </a:rPr>
              <a:t>Choosing courses is a high-stakes guess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25400">
            <a:solidFill>
              <a:srgbClr val="7A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600200"/>
            <a:ext cx="694944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7A1F2B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No relevance ranking — </a:t>
            </a:r>
            <a:r>
              <a:rPr sz="1600">
                <a:solidFill>
                  <a:srgbClr val="1A1A1A"/>
                </a:solidFill>
                <a:latin typeface="Arial"/>
              </a:rPr>
              <a:t>catalogue browsers list every course but rank none of them against a student's actual career goal.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7A1F2B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No feasibility check — </a:t>
            </a:r>
            <a:r>
              <a:rPr sz="1600">
                <a:solidFill>
                  <a:srgbClr val="1A1A1A"/>
                </a:solidFill>
                <a:latin typeface="Arial"/>
              </a:rPr>
              <a:t>students manually cross-reference transcripts against prerequisites and guess whether a schedule fits.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7A1F2B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No explainability — </a:t>
            </a:r>
            <a:r>
              <a:rPr sz="1600">
                <a:solidFill>
                  <a:srgbClr val="1A1A1A"/>
                </a:solidFill>
                <a:latin typeface="Arial"/>
              </a:rPr>
              <a:t>where recommendations exist at all, they are a black box with no inspectable reasoning.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7A1F2B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No steerability — </a:t>
            </a:r>
            <a:r>
              <a:rPr sz="1600">
                <a:solidFill>
                  <a:srgbClr val="1A1A1A"/>
                </a:solidFill>
                <a:latin typeface="Arial"/>
              </a:rPr>
              <a:t>a one-size-fits-all formula can't reflect that different students value different things.</a:t>
            </a:r>
          </a:p>
        </p:txBody>
      </p:sp>
      <p:pic>
        <p:nvPicPr>
          <p:cNvPr id="6" name="Picture 5" descr="0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377440"/>
            <a:ext cx="3749039" cy="21956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555555"/>
                </a:solidFill>
                <a:latin typeface="Arial"/>
              </a:rPr>
              <a:t>LEARNIX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55555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7A1F2B"/>
                </a:solidFill>
                <a:latin typeface="Arial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1A"/>
                </a:solidFill>
                <a:latin typeface="Arial"/>
              </a:rPr>
              <a:t>What Learnix sets out to do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25400">
            <a:solidFill>
              <a:srgbClr val="7A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7A1F2B"/>
                </a:solidFill>
                <a:latin typeface="Arial"/>
              </a:rPr>
              <a:t>•  </a:t>
            </a:r>
            <a:r>
              <a:rPr sz="1700" b="1">
                <a:solidFill>
                  <a:srgbClr val="1A1A1A"/>
                </a:solidFill>
                <a:latin typeface="Arial"/>
              </a:rPr>
              <a:t>1. </a:t>
            </a:r>
            <a:r>
              <a:rPr sz="1700">
                <a:solidFill>
                  <a:srgbClr val="1A1A1A"/>
                </a:solidFill>
                <a:latin typeface="Arial"/>
              </a:rPr>
              <a:t>Rank courses against a career-goal skill profile with no historical-interaction data required.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7A1F2B"/>
                </a:solidFill>
                <a:latin typeface="Arial"/>
              </a:rPr>
              <a:t>•  </a:t>
            </a:r>
            <a:r>
              <a:rPr sz="1700" b="1">
                <a:solidFill>
                  <a:srgbClr val="1A1A1A"/>
                </a:solidFill>
                <a:latin typeface="Arial"/>
              </a:rPr>
              <a:t>2. </a:t>
            </a:r>
            <a:r>
              <a:rPr sz="1700">
                <a:solidFill>
                  <a:srgbClr val="1A1A1A"/>
                </a:solidFill>
                <a:latin typeface="Arial"/>
              </a:rPr>
              <a:t>Derive a student's current skill level purely from their confirmed transcript — never fabricated.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7A1F2B"/>
                </a:solidFill>
                <a:latin typeface="Arial"/>
              </a:rPr>
              <a:t>•  </a:t>
            </a:r>
            <a:r>
              <a:rPr sz="1700" b="1">
                <a:solidFill>
                  <a:srgbClr val="1A1A1A"/>
                </a:solidFill>
                <a:latin typeface="Arial"/>
              </a:rPr>
              <a:t>3. </a:t>
            </a:r>
            <a:r>
              <a:rPr sz="1700">
                <a:solidFill>
                  <a:srgbClr val="1A1A1A"/>
                </a:solidFill>
                <a:latin typeface="Arial"/>
              </a:rPr>
              <a:t>Decompose every score into explainable subscores with plain-language reasons.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7A1F2B"/>
                </a:solidFill>
                <a:latin typeface="Arial"/>
              </a:rPr>
              <a:t>•  </a:t>
            </a:r>
            <a:r>
              <a:rPr sz="1700" b="1">
                <a:solidFill>
                  <a:srgbClr val="1A1A1A"/>
                </a:solidFill>
                <a:latin typeface="Arial"/>
              </a:rPr>
              <a:t>4. </a:t>
            </a:r>
            <a:r>
              <a:rPr sz="1700">
                <a:solidFill>
                  <a:srgbClr val="1A1A1A"/>
                </a:solidFill>
                <a:latin typeface="Arial"/>
              </a:rPr>
              <a:t>Let the student steer the ranking by adjusting each subscore's weight.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7A1F2B"/>
                </a:solidFill>
                <a:latin typeface="Arial"/>
              </a:rPr>
              <a:t>•  </a:t>
            </a:r>
            <a:r>
              <a:rPr sz="1700" b="1">
                <a:solidFill>
                  <a:srgbClr val="1A1A1A"/>
                </a:solidFill>
                <a:latin typeface="Arial"/>
              </a:rPr>
              <a:t>5. </a:t>
            </a:r>
            <a:r>
              <a:rPr sz="1700">
                <a:solidFill>
                  <a:srgbClr val="1A1A1A"/>
                </a:solidFill>
                <a:latin typeface="Arial"/>
              </a:rPr>
              <a:t>Catch unmet prerequisites and schedule conflicts before they become a registration problem.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7A1F2B"/>
                </a:solidFill>
                <a:latin typeface="Arial"/>
              </a:rPr>
              <a:t>•  </a:t>
            </a:r>
            <a:r>
              <a:rPr sz="1700" b="1">
                <a:solidFill>
                  <a:srgbClr val="1A1A1A"/>
                </a:solidFill>
                <a:latin typeface="Arial"/>
              </a:rPr>
              <a:t>6. </a:t>
            </a:r>
            <a:r>
              <a:rPr sz="1700">
                <a:solidFill>
                  <a:srgbClr val="1A1A1A"/>
                </a:solidFill>
                <a:latin typeface="Arial"/>
              </a:rPr>
              <a:t>Persist every piece of student state server-side for a consistent cross-device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555555"/>
                </a:solidFill>
                <a:latin typeface="Arial"/>
              </a:rPr>
              <a:t>LEARNIX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55555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E8B9BE"/>
                </a:solidFill>
                <a:latin typeface="Arial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Production-shaped, end to end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25400">
            <a:solidFill>
              <a:srgbClr val="E8B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645920"/>
            <a:ext cx="2103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E8B9BE"/>
                </a:solidFill>
                <a:latin typeface="Arial"/>
              </a:rPr>
              <a:t>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645920"/>
            <a:ext cx="7772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Arial"/>
              </a:rPr>
              <a:t>Next.js 16 (App Router, Turbopack)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66544"/>
            <a:ext cx="2103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E8B9BE"/>
                </a:solidFill>
                <a:latin typeface="Arial"/>
              </a:rPr>
              <a:t>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066544"/>
            <a:ext cx="7772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Arial"/>
              </a:rPr>
              <a:t>TypeScript (strict)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2103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E8B9BE"/>
                </a:solidFill>
                <a:latin typeface="Arial"/>
              </a:rPr>
              <a:t>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487168"/>
            <a:ext cx="7772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Arial"/>
              </a:rPr>
              <a:t>React 19 · Tailwind CSS v4 · Framer Motion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07792"/>
            <a:ext cx="2103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E8B9BE"/>
                </a:solidFill>
                <a:latin typeface="Arial"/>
              </a:rP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907792"/>
            <a:ext cx="7772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Arial"/>
              </a:rPr>
              <a:t>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28416"/>
            <a:ext cx="2103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E8B9BE"/>
                </a:solidFill>
                <a:latin typeface="Arial"/>
              </a:rPr>
              <a:t>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328416"/>
            <a:ext cx="7772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Arial"/>
              </a:rPr>
              <a:t>Prisma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49040"/>
            <a:ext cx="2103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E8B9BE"/>
                </a:solidFill>
                <a:latin typeface="Arial"/>
              </a:rPr>
              <a:t>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749040"/>
            <a:ext cx="7772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Arial"/>
              </a:rPr>
              <a:t>Auth.js v5 (Credentials + bcrypt)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9664"/>
            <a:ext cx="2103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E8B9BE"/>
                </a:solidFill>
                <a:latin typeface="Arial"/>
              </a:rPr>
              <a:t>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169664"/>
            <a:ext cx="7772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Arial"/>
              </a:rPr>
              <a:t>Zod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90288"/>
            <a:ext cx="2103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E8B9BE"/>
                </a:solidFill>
                <a:latin typeface="Arial"/>
              </a:rPr>
              <a:t>Client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590288"/>
            <a:ext cx="7772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Arial"/>
              </a:rPr>
              <a:t>Zustand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10912"/>
            <a:ext cx="2103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E8B9BE"/>
                </a:solidFill>
                <a:latin typeface="Arial"/>
              </a:rPr>
              <a:t>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010912"/>
            <a:ext cx="7772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Arial"/>
              </a:rPr>
              <a:t>Vitest + Testing Library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555555"/>
                </a:solidFill>
                <a:latin typeface="Arial"/>
              </a:rPr>
              <a:t>LEARNIX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55555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7A1F2B"/>
                </a:solidFill>
                <a:latin typeface="Arial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1A"/>
                </a:solidFill>
                <a:latin typeface="Arial"/>
              </a:rPr>
              <a:t>A layered, server-first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25400">
            <a:solidFill>
              <a:srgbClr val="7A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6002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7A1F2B"/>
                </a:solidFill>
                <a:latin typeface="Consolas"/>
              </a:rPr>
              <a:t>lib/scoring/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600200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recommendation engine — skill vectors, subscore formulas, ranking, reasons. Pure, framework-free, unit-tested.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1343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7A1F2B"/>
                </a:solidFill>
                <a:latin typeface="Consolas"/>
              </a:rPr>
              <a:t>lib/data/repository.ts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313432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single seam to Postgres — every read &amp; write in the system passes through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26664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7A1F2B"/>
                </a:solidFill>
                <a:latin typeface="Consolas"/>
              </a:rPr>
              <a:t>auth.ts / proxy.ts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026664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A1A1A"/>
                </a:solidFill>
                <a:latin typeface="Arial"/>
              </a:rPr>
              <a:t>Auth.js v5 session management with edge-safe route protection.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39896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7A1F2B"/>
                </a:solidFill>
                <a:latin typeface="Consolas"/>
              </a:rPr>
              <a:t>prisma/schema.prisma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739896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full relational schema — 11 models.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53128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7A1F2B"/>
                </a:solidFill>
                <a:latin typeface="Consolas"/>
              </a:rPr>
              <a:t>app/(app)/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4453128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authenticated app shell: nav + all nine student-facing screens.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6636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7A1F2B"/>
                </a:solidFill>
                <a:latin typeface="Consolas"/>
              </a:rPr>
              <a:t>app/onboarding/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5166360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A1A1A"/>
                </a:solidFill>
                <a:latin typeface="Arial"/>
              </a:rPr>
              <a:t>A four-step wizard, rendered outside the app shell.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555555"/>
                </a:solidFill>
                <a:latin typeface="Arial"/>
              </a:rPr>
              <a:t>LEARNIX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5555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7A1F2B"/>
                </a:solidFill>
                <a:latin typeface="Arial"/>
              </a:rP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1A"/>
                </a:solidFill>
                <a:latin typeface="Arial"/>
              </a:rPr>
              <a:t>Fully relational, nothing derived is stored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25400">
            <a:solidFill>
              <a:srgbClr val="7A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45920"/>
            <a:ext cx="53949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4937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1A1A"/>
                </a:solidFill>
                <a:latin typeface="Arial"/>
              </a:rPr>
              <a:t>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949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55648"/>
            <a:ext cx="4937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1A1A"/>
                </a:solidFill>
                <a:latin typeface="Arial"/>
              </a:rPr>
              <a:t>Profile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23160"/>
            <a:ext cx="53949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32888"/>
            <a:ext cx="4937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1A1A"/>
                </a:solidFill>
                <a:latin typeface="Arial"/>
              </a:rPr>
              <a:t>WeightsProfile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23160"/>
            <a:ext cx="53949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532888"/>
            <a:ext cx="4937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1A1A"/>
                </a:solidFill>
                <a:latin typeface="Arial"/>
              </a:rPr>
              <a:t>NotificationSettings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00400"/>
            <a:ext cx="53949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10128"/>
            <a:ext cx="4937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1A1A"/>
                </a:solidFill>
                <a:latin typeface="Arial"/>
              </a:rPr>
              <a:t>Career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00400"/>
            <a:ext cx="53949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310128"/>
            <a:ext cx="4937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1A1A"/>
                </a:solidFill>
                <a:latin typeface="Arial"/>
              </a:rPr>
              <a:t>Course / Instructor /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77640"/>
            <a:ext cx="53949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087368"/>
            <a:ext cx="4937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1A1A"/>
                </a:solidFill>
                <a:latin typeface="Arial"/>
              </a:rPr>
              <a:t>ProgramRequirement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77640"/>
            <a:ext cx="53949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087368"/>
            <a:ext cx="4937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1A1A"/>
                </a:solidFill>
                <a:latin typeface="Arial"/>
              </a:rPr>
              <a:t>TranscriptEntry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754880"/>
            <a:ext cx="53949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864608"/>
            <a:ext cx="4937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1A1A"/>
                </a:solidFill>
                <a:latin typeface="Arial"/>
              </a:rPr>
              <a:t>SavedCourse / HiddenCourse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754880"/>
            <a:ext cx="53949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864608"/>
            <a:ext cx="4937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1A1A"/>
                </a:solidFill>
                <a:latin typeface="Arial"/>
              </a:rPr>
              <a:t>Notification / NotificationRead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555555"/>
                </a:solidFill>
                <a:latin typeface="Arial"/>
              </a:rPr>
              <a:t>Degree-requirement progress and GPA are deliberately NOT stored — derived live from the transcript.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555555"/>
                </a:solidFill>
                <a:latin typeface="Arial"/>
              </a:rPr>
              <a:t>LEARNIX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55555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E8B9BE"/>
                </a:solidFill>
                <a:latin typeface="Arial"/>
              </a:rPr>
              <a:t>THE RECOMMENDATION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Five explainable subscores (0–99 each)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25400">
            <a:solidFill>
              <a:srgbClr val="E8B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45920"/>
            <a:ext cx="1554480" cy="502920"/>
          </a:xfrm>
          <a:prstGeom prst="roundRect">
            <a:avLst>
              <a:gd name="adj" fmla="val 8000"/>
            </a:avLst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Consolas"/>
              </a:rPr>
              <a:t>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645920"/>
            <a:ext cx="9144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Arial"/>
              </a:rPr>
              <a:t>Skill-vector similarity to the career target, boosted by stated interests.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554480" cy="502920"/>
          </a:xfrm>
          <a:prstGeom prst="roundRect">
            <a:avLst>
              <a:gd name="adj" fmla="val 8000"/>
            </a:avLst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Consolas"/>
              </a:rPr>
              <a:t>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331720"/>
            <a:ext cx="9144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Arial"/>
              </a:rPr>
              <a:t>Weighted by how far current skills fall short of the target — closing a bigger gap scores higher.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1554480" cy="502920"/>
          </a:xfrm>
          <a:prstGeom prst="roundRect">
            <a:avLst>
              <a:gd name="adj" fmla="val 8000"/>
            </a:avLst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Consolas"/>
              </a:rPr>
              <a:t>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017520"/>
            <a:ext cx="9144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Arial"/>
              </a:rPr>
              <a:t>Halved if a checkable prerequisite isn't confirmed on the transcript.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1554480" cy="502920"/>
          </a:xfrm>
          <a:prstGeom prst="roundRect">
            <a:avLst>
              <a:gd name="adj" fmla="val 8000"/>
            </a:avLst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Consolas"/>
              </a:rPr>
              <a:t>schedule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703320"/>
            <a:ext cx="9144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Arial"/>
              </a:rPr>
              <a:t>Discounted if the course eats an outsized share of the weekly time budget.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89120"/>
            <a:ext cx="1554480" cy="502920"/>
          </a:xfrm>
          <a:prstGeom prst="roundRect">
            <a:avLst>
              <a:gd name="adj" fmla="val 8000"/>
            </a:avLst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Consolas"/>
              </a:rPr>
              <a:t>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4389120"/>
            <a:ext cx="9144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Arial"/>
              </a:rPr>
              <a:t>A fixed credit-value score.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555555"/>
                </a:solidFill>
                <a:latin typeface="Arial"/>
              </a:rPr>
              <a:t>LEARNIX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55555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7A1F2B"/>
                </a:solidFill>
                <a:latin typeface="Arial"/>
              </a:rPr>
              <a:t>THE RECOMMENDATION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1A"/>
                </a:solidFill>
                <a:latin typeface="Arial"/>
              </a:rPr>
              <a:t>Weighted match % and explanation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25400">
            <a:solidFill>
              <a:srgbClr val="7A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45920"/>
            <a:ext cx="10881360" cy="1005840"/>
          </a:xfrm>
          <a:prstGeom prst="roundRect">
            <a:avLst>
              <a:gd name="adj" fmla="val 8000"/>
            </a:avLst>
          </a:prstGeom>
          <a:solidFill>
            <a:srgbClr val="FAF5F0"/>
          </a:solidFill>
          <a:ln w="9525">
            <a:solidFill>
              <a:srgbClr val="7A1F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7A1F2B"/>
                </a:solidFill>
                <a:latin typeface="Consolas"/>
              </a:rPr>
              <a:t>Match % = Σ(subscore × weight) / Σweight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88136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7A1F2B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Weights are normalised on every read — </a:t>
            </a:r>
            <a:r>
              <a:rPr sz="1600">
                <a:solidFill>
                  <a:srgbClr val="1A1A1A"/>
                </a:solidFill>
                <a:latin typeface="Arial"/>
              </a:rPr>
              <a:t>a student's sliders never need to sum to 100.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7A1F2B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Three bands — </a:t>
            </a:r>
            <a:r>
              <a:rPr sz="1600">
                <a:solidFill>
                  <a:srgbClr val="1A1A1A"/>
                </a:solidFill>
                <a:latin typeface="Arial"/>
              </a:rPr>
              <a:t>≥ 85 “Great fit”, ≥ 72 “Good fit”, else “Okay fit.”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7A1F2B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Explanation — </a:t>
            </a:r>
            <a:r>
              <a:rPr sz="1600">
                <a:solidFill>
                  <a:srgbClr val="1A1A1A"/>
                </a:solidFill>
                <a:latin typeface="Arial"/>
              </a:rPr>
              <a:t>top-contributing signals map to a plain-language reason shown everywhere the course appears.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7A1F2B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Exclusion &amp; conflicts — </a:t>
            </a:r>
            <a:r>
              <a:rPr sz="1600">
                <a:solidFill>
                  <a:srgbClr val="1A1A1A"/>
                </a:solidFill>
                <a:latin typeface="Arial"/>
              </a:rPr>
              <a:t>hidden courses and day conflicts are removed before ranking, not scored low; saved courses are checked pairwise for overlap.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555555"/>
                </a:solidFill>
                <a:latin typeface="Arial"/>
              </a:rPr>
              <a:t>LEARNIX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55555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7A1F2B"/>
                </a:solidFill>
                <a:latin typeface="Arial"/>
              </a:rPr>
              <a:t>APPLICATION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1A"/>
                </a:solidFill>
                <a:latin typeface="Arial"/>
              </a:rPr>
              <a:t>Home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25400">
            <a:solidFill>
              <a:srgbClr val="7A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555555"/>
                </a:solidFill>
                <a:latin typeface="Arial"/>
              </a:rPr>
              <a:t>Best-match hero course with live reasoning, plus a ranked rail of alternatives.</a:t>
            </a:r>
          </a:p>
        </p:txBody>
      </p:sp>
      <p:pic>
        <p:nvPicPr>
          <p:cNvPr id="6" name="Picture 5" descr="03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670" y="2057400"/>
            <a:ext cx="7416356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555555"/>
                </a:solidFill>
                <a:latin typeface="Arial"/>
              </a:rPr>
              <a:t>LEARNIX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55555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7A1F2B"/>
                </a:solidFill>
                <a:latin typeface="Arial"/>
              </a:rPr>
              <a:t>APPLICATION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1A"/>
                </a:solidFill>
                <a:latin typeface="Arial"/>
              </a:rPr>
              <a:t>Explore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25400">
            <a:solidFill>
              <a:srgbClr val="7A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555555"/>
                </a:solidFill>
                <a:latin typeface="Arial"/>
              </a:rPr>
              <a:t>Every eligible course, ranked and filterable by department, hours and day.</a:t>
            </a:r>
          </a:p>
        </p:txBody>
      </p:sp>
      <p:pic>
        <p:nvPicPr>
          <p:cNvPr id="6" name="Picture 5" descr="04-expl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670" y="2057400"/>
            <a:ext cx="7416356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555555"/>
                </a:solidFill>
                <a:latin typeface="Arial"/>
              </a:rPr>
              <a:t>LEARNIX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55555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7A1F2B"/>
                </a:solidFill>
                <a:latin typeface="Arial"/>
              </a:rPr>
              <a:t>APPLICATION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1A"/>
                </a:solidFill>
                <a:latin typeface="Arial"/>
              </a:rPr>
              <a:t>Course Detail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25400">
            <a:solidFill>
              <a:srgbClr val="7A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555555"/>
                </a:solidFill>
                <a:latin typeface="Arial"/>
              </a:rPr>
              <a:t>Full subscore breakdown, instructor profile, syllabus and reviews.</a:t>
            </a:r>
          </a:p>
        </p:txBody>
      </p:sp>
      <p:pic>
        <p:nvPicPr>
          <p:cNvPr id="6" name="Picture 5" descr="05-cours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670" y="2057400"/>
            <a:ext cx="7416356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555555"/>
                </a:solidFill>
                <a:latin typeface="Arial"/>
              </a:rPr>
              <a:t>LEARNIX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55555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7A1F2B"/>
                </a:solidFill>
                <a:latin typeface="Arial"/>
              </a:rPr>
              <a:t>APPLICATION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1A"/>
                </a:solidFill>
                <a:latin typeface="Arial"/>
              </a:rPr>
              <a:t>Compare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25400">
            <a:solidFill>
              <a:srgbClr val="7A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555555"/>
                </a:solidFill>
                <a:latin typeface="Arial"/>
              </a:rPr>
              <a:t>Two courses side by side across schedule, workload and skill fit.</a:t>
            </a:r>
          </a:p>
        </p:txBody>
      </p:sp>
      <p:pic>
        <p:nvPicPr>
          <p:cNvPr id="6" name="Picture 5" descr="06-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670" y="2057400"/>
            <a:ext cx="7416356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555555"/>
                </a:solidFill>
                <a:latin typeface="Arial"/>
              </a:rPr>
              <a:t>LEARNIX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55555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7A1F2B"/>
                </a:solidFill>
                <a:latin typeface="Arial"/>
              </a:rPr>
              <a:t>APPLICATION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1A"/>
                </a:solidFill>
                <a:latin typeface="Arial"/>
              </a:rPr>
              <a:t>Progress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25400">
            <a:solidFill>
              <a:srgbClr val="7A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555555"/>
                </a:solidFill>
                <a:latin typeface="Arial"/>
              </a:rPr>
              <a:t>Degree-requirement completion and GPA, derived live from the transcript.</a:t>
            </a:r>
          </a:p>
        </p:txBody>
      </p:sp>
      <p:pic>
        <p:nvPicPr>
          <p:cNvPr id="6" name="Picture 5" descr="07-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670" y="2057400"/>
            <a:ext cx="7416356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555555"/>
                </a:solidFill>
                <a:latin typeface="Arial"/>
              </a:rPr>
              <a:t>LEARNIX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55555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7A1F2B"/>
                </a:solidFill>
                <a:latin typeface="Arial"/>
              </a:rPr>
              <a:t>APPLICATION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1A"/>
                </a:solidFill>
                <a:latin typeface="Arial"/>
              </a:rPr>
              <a:t>Saved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25400">
            <a:solidFill>
              <a:srgbClr val="7A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555555"/>
                </a:solidFill>
                <a:latin typeface="Arial"/>
              </a:rPr>
              <a:t>The student's shortlist, with a live running total against their weekly budget.</a:t>
            </a:r>
          </a:p>
        </p:txBody>
      </p:sp>
      <p:pic>
        <p:nvPicPr>
          <p:cNvPr id="6" name="Picture 5" descr="08-sa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670" y="2057400"/>
            <a:ext cx="7416356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555555"/>
                </a:solidFill>
                <a:latin typeface="Arial"/>
              </a:rPr>
              <a:t>LEARNIX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55555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7A1F2B"/>
                </a:solidFill>
                <a:latin typeface="Arial"/>
              </a:rPr>
              <a:t>APPLICATION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1A"/>
                </a:solidFill>
                <a:latin typeface="Arial"/>
              </a:rPr>
              <a:t>Settings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25400">
            <a:solidFill>
              <a:srgbClr val="7A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555555"/>
                </a:solidFill>
                <a:latin typeface="Arial"/>
              </a:rPr>
              <a:t>The five steerable weight sliders, plus preferences and accessibility.</a:t>
            </a:r>
          </a:p>
        </p:txBody>
      </p:sp>
      <p:pic>
        <p:nvPicPr>
          <p:cNvPr id="6" name="Picture 5" descr="09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670" y="2057400"/>
            <a:ext cx="7416356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555555"/>
                </a:solidFill>
                <a:latin typeface="Arial"/>
              </a:rPr>
              <a:t>LEARNIX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55555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7A1F2B"/>
                </a:solidFill>
                <a:latin typeface="Arial"/>
              </a:rPr>
              <a:t>APPLICATION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1A"/>
                </a:solidFill>
                <a:latin typeface="Arial"/>
              </a:rPr>
              <a:t>Updates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25400">
            <a:solidFill>
              <a:srgbClr val="7A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555555"/>
                </a:solidFill>
                <a:latin typeface="Arial"/>
              </a:rPr>
              <a:t>Registration deadlines, seat alerts and new-course notifications.</a:t>
            </a:r>
          </a:p>
        </p:txBody>
      </p:sp>
      <p:pic>
        <p:nvPicPr>
          <p:cNvPr id="6" name="Picture 5" descr="10-upd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670" y="2057400"/>
            <a:ext cx="7416356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555555"/>
                </a:solidFill>
                <a:latin typeface="Arial"/>
              </a:rPr>
              <a:t>LEARNIX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55555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E8B9BE"/>
                </a:solidFill>
                <a:latin typeface="Arial"/>
              </a:rPr>
              <a:t>DESIGN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“Salt &amp; pepper + Gothic noir”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25400">
            <a:solidFill>
              <a:srgbClr val="E8B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737360"/>
            <a:ext cx="667512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7A1F2B"/>
                </a:solidFill>
                <a:latin typeface="Arial"/>
              </a:rPr>
              <a:t>•  </a:t>
            </a:r>
            <a:r>
              <a:rPr sz="1600" b="1">
                <a:solidFill>
                  <a:srgbClr val="FFFFFF"/>
                </a:solidFill>
                <a:latin typeface="Arial"/>
              </a:rPr>
              <a:t>Palette — </a:t>
            </a:r>
            <a:r>
              <a:rPr sz="1600">
                <a:solidFill>
                  <a:srgbClr val="FFFFFF"/>
                </a:solidFill>
                <a:latin typeface="Arial"/>
              </a:rPr>
              <a:t>warm off-white (#F5F4F1) through deep oxblood (#7A1F2B).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7A1F2B"/>
                </a:solidFill>
                <a:latin typeface="Arial"/>
              </a:rPr>
              <a:t>•  </a:t>
            </a:r>
            <a:r>
              <a:rPr sz="1600" b="1">
                <a:solidFill>
                  <a:srgbClr val="FFFFFF"/>
                </a:solidFill>
                <a:latin typeface="Arial"/>
              </a:rPr>
              <a:t>Type — </a:t>
            </a:r>
            <a:r>
              <a:rPr sz="1600">
                <a:solidFill>
                  <a:srgbClr val="FFFFFF"/>
                </a:solidFill>
                <a:latin typeface="Arial"/>
              </a:rPr>
              <a:t>Archivo for headings/body, Space Mono for small uppercase labels.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7A1F2B"/>
                </a:solidFill>
                <a:latin typeface="Arial"/>
              </a:rPr>
              <a:t>•  </a:t>
            </a:r>
            <a:r>
              <a:rPr sz="1600" b="1">
                <a:solidFill>
                  <a:srgbClr val="FFFFFF"/>
                </a:solidFill>
                <a:latin typeface="Arial"/>
              </a:rPr>
              <a:t>Shape language — </a:t>
            </a:r>
            <a:r>
              <a:rPr sz="1600">
                <a:solidFill>
                  <a:srgbClr val="FFFFFF"/>
                </a:solidFill>
                <a:latin typeface="Arial"/>
              </a:rPr>
              <a:t>28px tile radii, fully pill-shaped buttons, chips and toasts.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7A1F2B"/>
                </a:solidFill>
                <a:latin typeface="Arial"/>
              </a:rPr>
              <a:t>•  </a:t>
            </a:r>
            <a:r>
              <a:rPr sz="1600" b="1">
                <a:solidFill>
                  <a:srgbClr val="FFFFFF"/>
                </a:solidFill>
                <a:latin typeface="Arial"/>
              </a:rPr>
              <a:t>Motion — </a:t>
            </a:r>
            <a:r>
              <a:rPr sz="1600">
                <a:solidFill>
                  <a:srgbClr val="FFFFFF"/>
                </a:solidFill>
                <a:latin typeface="Arial"/>
              </a:rPr>
              <a:t>Framer Motion entrance/ambient animation, respects prefers-reduced-motion, never hides content if a script fails to 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737360"/>
            <a:ext cx="822960" cy="822960"/>
          </a:xfrm>
          <a:prstGeom prst="roundRect">
            <a:avLst>
              <a:gd name="adj" fmla="val 8000"/>
            </a:avLst>
          </a:prstGeom>
          <a:solidFill>
            <a:srgbClr val="F5F4F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9202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Salt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#F5F4F1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743200"/>
            <a:ext cx="822960" cy="82296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29260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Ink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#1A1A1A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3749040"/>
            <a:ext cx="822960" cy="822960"/>
          </a:xfrm>
          <a:prstGeom prst="roundRect">
            <a:avLst>
              <a:gd name="adj" fmla="val 8000"/>
            </a:avLst>
          </a:prstGeom>
          <a:solidFill>
            <a:srgbClr val="7A1F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39319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Oxblood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#7A1F2B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555555"/>
                </a:solidFill>
                <a:latin typeface="Arial"/>
              </a:rPr>
              <a:t>LEARNIX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55555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7A1F2B"/>
                </a:solidFill>
                <a:latin typeface="Arial"/>
              </a:rPr>
              <a:t>PERFORMANCE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1A"/>
                </a:solidFill>
                <a:latin typeface="Arial"/>
              </a:rPr>
              <a:t>Caching for a remote, pooled database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25400">
            <a:solidFill>
              <a:srgbClr val="7A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737360"/>
            <a:ext cx="1088136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7A1F2B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Request-level memoization — </a:t>
            </a:r>
            <a:r>
              <a:rPr sz="1600">
                <a:solidFill>
                  <a:srgbClr val="1A1A1A"/>
                </a:solidFill>
                <a:latin typeface="Arial"/>
              </a:rPr>
              <a:t>every read in lib/data/repository.ts is wrapped in React's cache().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7A1F2B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Cross-request caching — </a:t>
            </a:r>
            <a:r>
              <a:rPr sz="1600">
                <a:solidFill>
                  <a:srgbClr val="1A1A1A"/>
                </a:solidFill>
                <a:latin typeface="Arial"/>
              </a:rPr>
              <a:t>catalogue and per-student data additionally use Next.js's unstable_cache, since the production database is a pooled remote Postgres instance.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7A1F2B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Targeted invalidation — </a:t>
            </a:r>
            <a:r>
              <a:rPr sz="1600">
                <a:solidFill>
                  <a:srgbClr val="1A1A1A"/>
                </a:solidFill>
                <a:latin typeface="Arial"/>
              </a:rPr>
              <a:t>every mutation revalidates precisely what it changed, so a student's own edit is always reflected immediately.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7A1F2B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Result — </a:t>
            </a:r>
            <a:r>
              <a:rPr sz="1600">
                <a:solidFill>
                  <a:srgbClr val="1A1A1A"/>
                </a:solidFill>
                <a:latin typeface="Arial"/>
              </a:rPr>
              <a:t>warm navigations dropped from multi-second cold loads to a consistent sub-second baseline.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555555"/>
                </a:solidFill>
                <a:latin typeface="Arial"/>
              </a:rPr>
              <a:t>LEARNIX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55555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7A1F2B"/>
                </a:solidFill>
                <a:latin typeface="Arial"/>
              </a:rP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1A"/>
                </a:solidFill>
                <a:latin typeface="Arial"/>
              </a:rPr>
              <a:t>The scoring engine is the correctness-critical core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25400">
            <a:solidFill>
              <a:srgbClr val="7A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737360"/>
            <a:ext cx="1088136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7A1F2B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27 unit tests </a:t>
            </a:r>
            <a:r>
              <a:rPr sz="1600">
                <a:solidFill>
                  <a:srgbClr val="1A1A1A"/>
                </a:solidFill>
                <a:latin typeface="Arial"/>
              </a:rPr>
              <a:t>(Vitest) over subscore formulas, weighted ranking, band classification, exclusion filtering and schedule-conflict detection.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7A1F2B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Strict TypeScript </a:t>
            </a:r>
            <a:r>
              <a:rPr sz="1600">
                <a:solidFill>
                  <a:srgbClr val="1A1A1A"/>
                </a:solidFill>
                <a:latin typeface="Arial"/>
              </a:rPr>
              <a:t>compilation and ESLint enforced on every change.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7A1F2B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Isolated from I/O — </a:t>
            </a:r>
            <a:r>
              <a:rPr sz="1600">
                <a:solidFill>
                  <a:srgbClr val="1A1A1A"/>
                </a:solidFill>
                <a:latin typeface="Arial"/>
              </a:rPr>
              <a:t>the scoring engine is pure functions with no database or React dependency, so tests run instantly and deterministically.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555555"/>
                </a:solidFill>
                <a:latin typeface="Arial"/>
              </a:rPr>
              <a:t>LEARNIX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55555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E8B9BE"/>
                </a:solidFill>
                <a:latin typeface="Arial"/>
              </a:rP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Rigorous and legible, by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98448"/>
            <a:ext cx="10908792" cy="0"/>
          </a:xfrm>
          <a:prstGeom prst="line">
            <a:avLst/>
          </a:prstGeom>
          <a:ln w="25400">
            <a:solidFill>
              <a:srgbClr val="E8B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69164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FFFFFF"/>
                </a:solidFill>
                <a:latin typeface="Arial"/>
              </a:rPr>
              <a:t>Learnix shows a recommender can be both rigorous and explainable — every ranking traces to a named, student-adjustable signal. No cold-start problem, no black box.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88136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7A1F2B"/>
                </a:solidFill>
                <a:latin typeface="Arial"/>
              </a:rPr>
              <a:t>•  </a:t>
            </a:r>
            <a:r>
              <a:rPr sz="1500" b="1">
                <a:solidFill>
                  <a:srgbClr val="FFFFFF"/>
                </a:solidFill>
                <a:latin typeface="Arial"/>
              </a:rPr>
              <a:t>Multi-term degree planner — </a:t>
            </a:r>
            <a:r>
              <a:rPr sz="1500">
                <a:solidFill>
                  <a:srgbClr val="FFFFFF"/>
                </a:solidFill>
                <a:latin typeface="Arial"/>
              </a:rPr>
              <a:t>sequencing courses across future terms by prerequisite topology and budget (prototyped in lib/data/path.ts).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7A1F2B"/>
                </a:solidFill>
                <a:latin typeface="Arial"/>
              </a:rPr>
              <a:t>•  </a:t>
            </a:r>
            <a:r>
              <a:rPr sz="1500" b="1">
                <a:solidFill>
                  <a:srgbClr val="FFFFFF"/>
                </a:solidFill>
                <a:latin typeface="Arial"/>
              </a:rPr>
              <a:t>Instructor/section-level signals — </a:t>
            </a:r>
            <a:r>
              <a:rPr sz="1500">
                <a:solidFill>
                  <a:srgbClr val="FFFFFF"/>
                </a:solidFill>
                <a:latin typeface="Arial"/>
              </a:rPr>
              <a:t>historical grade-distribution data where institutions permit.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7A1F2B"/>
                </a:solidFill>
                <a:latin typeface="Arial"/>
              </a:rPr>
              <a:t>•  </a:t>
            </a:r>
            <a:r>
              <a:rPr sz="1500" b="1">
                <a:solidFill>
                  <a:srgbClr val="FFFFFF"/>
                </a:solidFill>
                <a:latin typeface="Arial"/>
              </a:rPr>
              <a:t>Collaborative signals — </a:t>
            </a:r>
            <a:r>
              <a:rPr sz="1500">
                <a:solidFill>
                  <a:srgbClr val="FFFFFF"/>
                </a:solidFill>
                <a:latin typeface="Arial"/>
              </a:rPr>
              <a:t>layered atop the existing explainable base, not replacing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555555"/>
                </a:solidFill>
                <a:latin typeface="Arial"/>
              </a:rPr>
              <a:t>LEARNIX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55555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